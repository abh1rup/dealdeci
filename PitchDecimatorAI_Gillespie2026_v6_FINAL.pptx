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</c:v>
                </c:pt>
                <c:pt idx="1">
                  <c:v>390</c:v>
                </c:pt>
                <c:pt idx="2">
                  <c:v>585</c:v>
                </c:pt>
                <c:pt idx="3">
                  <c:v>3702</c:v>
                </c:pt>
                <c:pt idx="4">
                  <c:v>780</c:v>
                </c:pt>
                <c:pt idx="5">
                  <c:v>858</c:v>
                </c:pt>
                <c:pt idx="6">
                  <c:v>1014</c:v>
                </c:pt>
                <c:pt idx="7">
                  <c:v>4170</c:v>
                </c:pt>
                <c:pt idx="8">
                  <c:v>1365</c:v>
                </c:pt>
                <c:pt idx="9">
                  <c:v>1560</c:v>
                </c:pt>
                <c:pt idx="10">
                  <c:v>1794</c:v>
                </c:pt>
                <c:pt idx="11">
                  <c:v>2028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36-40E4-831D-21804C622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088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TITLE  |  Target: ~0:15</a:t>
            </a:r>
          </a:p>
          <a:p>
            <a:endParaRPr lang="en-US" dirty="0"/>
          </a:p>
          <a:p>
            <a:r>
              <a:rPr lang="en-US" dirty="0"/>
              <a:t>Open with stillness. Don't rush. Let the title breathe for two seconds before you speak.</a:t>
            </a:r>
          </a:p>
          <a:p>
            <a:endParaRPr lang="en-US" dirty="0"/>
          </a:p>
          <a:p>
            <a:r>
              <a:rPr lang="en-US" dirty="0"/>
              <a:t>SAY: "My name is Abhirup Chatterjee. I'm a graduating senior at Ole Miss Business. And before I leave this campus, I want to give something back."</a:t>
            </a:r>
          </a:p>
          <a:p>
            <a:endParaRPr lang="en-US" dirty="0"/>
          </a:p>
          <a:p>
            <a:r>
              <a:rPr lang="en-US" dirty="0"/>
              <a:t>THEN: "Because getting blindsided in that room is where deals go to die — and I have something that fixes that. Let me show you."</a:t>
            </a:r>
          </a:p>
          <a:p>
            <a:endParaRPr lang="en-US" dirty="0"/>
          </a:p>
          <a:p>
            <a:r>
              <a:rPr lang="en-US" dirty="0"/>
              <a:t>Point to the Working Demo Available badge. Let judges register it. Don't explain it yet — let the curiosity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TEAM  |  Target: ~0:45  |  Rubric: Requisite skills · plan to execute</a:t>
            </a:r>
          </a:p>
          <a:p>
            <a:endParaRPr lang="en-US" dirty="0"/>
          </a:p>
          <a:p>
            <a:r>
              <a:rPr lang="en-US" dirty="0"/>
              <a:t>Lead with the scarring: "I didn't design this from theory. I designed it from experience — specifically from standing in this room, getting a question I couldn't answer, and placing nowhere."</a:t>
            </a:r>
          </a:p>
          <a:p>
            <a:endParaRPr lang="en-US" dirty="0"/>
          </a:p>
          <a:p>
            <a:r>
              <a:rPr lang="en-US" dirty="0"/>
              <a:t>Name your credentials fast: Ole Miss Business, class of 2025. Double major in Marketing and Business Analytics — which is not incidental. BAIS gives me the data architecture mind. Marketing gives me the customer empathy. Entrepreneurship minor gives me the frameworks. This degree combination IS the product.</a:t>
            </a:r>
          </a:p>
          <a:p>
            <a:endParaRPr lang="en-US" dirty="0"/>
          </a:p>
          <a:p>
            <a:r>
              <a:rPr lang="en-US" dirty="0"/>
              <a:t>Address the build team proactively: "I'm a solo founder — and I want to be transparent about that. I have a full-stack developer contracted under a milestone-based structure: 30% upfront, 40% on working demo delivery, 30% on full product launch. Payment slips if delivery slips. Dr. Clay Dibrell — Co-Director of the Ole Miss CIE, Endowed Chair in Entrepreneurship, and US Fulbright Scholar — is my named advisor. And five Ole Miss founders have already beta-tested the product."</a:t>
            </a:r>
          </a:p>
          <a:p>
            <a:endParaRPr lang="en-US" dirty="0"/>
          </a:p>
          <a:p>
            <a:r>
              <a:rPr lang="en-US" dirty="0"/>
              <a:t>IF ASKED 'Why no co-founder?' → "Every great company started with one person who refused to wait. I have a contracted build team, a mentor advisor network, and five validated customers. I'm building the team around the product, not the other way around."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CUSTOMER PROBLEM  |  Target: ~1:00  |  Rubric: Compelling · willingness to pay · quantified pain</a:t>
            </a:r>
          </a:p>
          <a:p>
            <a:endParaRPr lang="en-US" dirty="0"/>
          </a:p>
          <a:p>
            <a:r>
              <a:rPr lang="en-US" dirty="0"/>
              <a:t>Tell Marcus's story, not a statistic: "Marcus was 22 years old. Ole Miss Business. He stood in this exact room last year with a deck he was proud of."</a:t>
            </a:r>
          </a:p>
          <a:p>
            <a:endParaRPr lang="en-US" dirty="0"/>
          </a:p>
          <a:p>
            <a:r>
              <a:rPr lang="en-US" dirty="0"/>
              <a:t>Pause. Then deliver the question: "A judge asked: What happens when Amazon enters your space in 18 months? Silence. He had no answer. He placed nowhere."</a:t>
            </a:r>
          </a:p>
          <a:p>
            <a:endParaRPr lang="en-US" dirty="0"/>
          </a:p>
          <a:p>
            <a:r>
              <a:rPr lang="en-US" dirty="0"/>
              <a:t>Now quantify it: "That moment isn't rare. One in three first-time founders cite Q&amp;A unpreparedness as their primary pitch failure — First Round Capital, 500+ founders. Professional coaching costs $200 to $500 an hour. That's not accessible to a 22-year-old walking in here for the first time."</a:t>
            </a:r>
          </a:p>
          <a:p>
            <a:endParaRPr lang="en-US" dirty="0"/>
          </a:p>
          <a:p>
            <a:r>
              <a:rPr lang="en-US" dirty="0"/>
              <a:t>Land the real problem: "The problem isn't that founders don't prepare. It's that nobody has ever pushed back on them the way a real investor will. Generic AI has no VC personas, no regional calibration, and no vulnerability scorecard. It produces noise — not preparation."</a:t>
            </a:r>
          </a:p>
          <a:p>
            <a:endParaRPr lang="en-US" dirty="0"/>
          </a:p>
          <a:p>
            <a:r>
              <a:rPr lang="en-US" dirty="0"/>
              <a:t>IF ASKED 'Is this worth $39?' → "Four of my five beta testers said yes to $39 unprompted — before there was even a payment button. Willingness to pay confirmed."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SOLUTION + LIVE DEMO  |  Target: ~1:30  |  Rubric: Well defined · innovative · enough detail</a:t>
            </a:r>
          </a:p>
          <a:p>
            <a:endParaRPr lang="en-US" dirty="0"/>
          </a:p>
          <a:p>
            <a:r>
              <a:rPr lang="en-US" dirty="0"/>
              <a:t>Transition hard: "So we built Pitch Decimator AI. Your personal war room — before the real fight."</a:t>
            </a:r>
          </a:p>
          <a:p>
            <a:endParaRPr lang="en-US" dirty="0"/>
          </a:p>
          <a:p>
            <a:r>
              <a:rPr lang="en-US" dirty="0"/>
              <a:t>Walk the four steps briefly: Upload your deck. The AI activates a VC persona matched to your industry and region. Failure scenarios run in seconds. You get a ranked vulnerability list and suggested responses — before you face a real investor.</a:t>
            </a:r>
          </a:p>
          <a:p>
            <a:endParaRPr lang="en-US" dirty="0"/>
          </a:p>
          <a:p>
            <a:r>
              <a:rPr lang="en-US" dirty="0"/>
              <a:t>Open the demo: "Let me show you what that looks like right now." — Open pitch-decimator.html. Walk through the scorecard, one vulnerability, and one Q&amp;A pair. Keep it to 30 seconds.</a:t>
            </a:r>
          </a:p>
          <a:p>
            <a:endParaRPr lang="en-US" dirty="0"/>
          </a:p>
          <a:p>
            <a:r>
              <a:rPr lang="en-US" dirty="0"/>
              <a:t>Close with the benefit: "Time saved. Money saved. Confidence earned. We don't help you build prettier slides — we help you build a more defensible business."</a:t>
            </a:r>
          </a:p>
          <a:p>
            <a:endParaRPr lang="en-US" dirty="0"/>
          </a:p>
          <a:p>
            <a:r>
              <a:rPr lang="en-US" dirty="0"/>
              <a:t>IF ASKED 'Is this just ChatGPT?' → "ChatGPT can ask hard questions. It cannot give you a four-dimension scorecard, a Southeast Angel persona, or regional calibration for this room. Let me show you the output again."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VALUE PROPOSITION  |  Target: ~0:20</a:t>
            </a:r>
          </a:p>
          <a:p>
            <a:endParaRPr lang="en-US" dirty="0"/>
          </a:p>
          <a:p>
            <a:r>
              <a:rPr lang="en-US" dirty="0"/>
              <a:t>Read it. Slowly: "By the time you walk in — you've already survived the hardest version of the conversation."</a:t>
            </a:r>
          </a:p>
          <a:p>
            <a:endParaRPr lang="en-US" dirty="0"/>
          </a:p>
          <a:p>
            <a:r>
              <a:rPr lang="en-US" dirty="0"/>
              <a:t>Then underscore it: "That's not marketing language. That's exactly what five Ole Miss founders said happened when they used this tool before coming into this room today."</a:t>
            </a:r>
          </a:p>
          <a:p>
            <a:endParaRPr lang="en-US" dirty="0"/>
          </a:p>
          <a:p>
            <a:r>
              <a:rPr lang="en-US" dirty="0"/>
              <a:t>One breath. Move on. Don't over-explain. Let the quote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TARGET MARKET  |  Target: ~0:30  |  Rubric: Market identified · growth rate · customer profile</a:t>
            </a:r>
          </a:p>
          <a:p>
            <a:endParaRPr lang="en-US" dirty="0"/>
          </a:p>
          <a:p>
            <a:r>
              <a:rPr lang="en-US" dirty="0"/>
              <a:t>Lead with the tight segment: "Our initial market is right here: 50,000 university competition participants per year — VentureWell. Beyond that, 300,000 US startups attempt pre-seed or seed raises annually."</a:t>
            </a:r>
          </a:p>
          <a:p>
            <a:endParaRPr lang="en-US" dirty="0"/>
          </a:p>
          <a:p>
            <a:r>
              <a:rPr lang="en-US" dirty="0"/>
              <a:t>Cite the growth rate immediately: "The founder education tools market is growing at 18% annually — IBISWorld. This isn't a shrinking pie."</a:t>
            </a:r>
          </a:p>
          <a:p>
            <a:endParaRPr lang="en-US" dirty="0"/>
          </a:p>
          <a:p>
            <a:r>
              <a:rPr lang="en-US" dirty="0"/>
              <a:t>Put a face on the customer: "Our customer is Marcus. 21 to 25. Pre-revenue. Confirmed willing to pay $39 — we have five of them in this building right now."</a:t>
            </a:r>
          </a:p>
          <a:p>
            <a:endParaRPr lang="en-US" dirty="0"/>
          </a:p>
          <a:p>
            <a:r>
              <a:rPr lang="en-US" dirty="0"/>
              <a:t>Name the TAM honestly: "$1.8 billion addressable market. We are not chasing the whole thing. We're starting with the 50,000 who are already standing in rooms like this one."</a:t>
            </a:r>
          </a:p>
          <a:p>
            <a:endParaRPr lang="en-US" dirty="0"/>
          </a:p>
          <a:p>
            <a:r>
              <a:rPr lang="en-US" dirty="0"/>
              <a:t>IF ASKED about the $6K spend figure → "Blended average across pitch coaching, presentation tools, and competition entry fees. Conservative — premium coaches alone charge $500/hour."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GO-TO-MARKET  |  Target: ~0:45  |  Rubric: Channels validated · customers can find and purchase</a:t>
            </a:r>
          </a:p>
          <a:p>
            <a:endParaRPr lang="en-US" dirty="0"/>
          </a:p>
          <a:p>
            <a:r>
              <a:rPr lang="en-US" dirty="0"/>
              <a:t>Lead with the purchase flow: "Here's exactly how a customer buys: visit pitchdecimator.com, upload their deck, select their persona, pay $39 via Stripe, receive a full report in 20 seconds. That's the entire funnel."</a:t>
            </a:r>
          </a:p>
          <a:p>
            <a:endParaRPr lang="en-US" dirty="0"/>
          </a:p>
          <a:p>
            <a:r>
              <a:rPr lang="en-US" dirty="0"/>
              <a:t>Phase 1 — this room: "40 teams competing at Gillespie right now. Converting 12% means 5 paying customers before end of month. The demo is already in use."</a:t>
            </a:r>
          </a:p>
          <a:p>
            <a:endParaRPr lang="en-US" dirty="0"/>
          </a:p>
          <a:p>
            <a:r>
              <a:rPr lang="en-US" dirty="0"/>
              <a:t>Phase 2 — exact sequence: "A founder at Landshark Tank hears a competitor mention Pitch Decimator. They Google it, watch a 30-second demo clip on X, upload their deck, and pay $39 via Stripe in under 10 minutes. One demo post per week. Target: 3 organic signups per post."</a:t>
            </a:r>
          </a:p>
          <a:p>
            <a:endParaRPr lang="en-US" dirty="0"/>
          </a:p>
          <a:p>
            <a:r>
              <a:rPr lang="en-US" dirty="0"/>
              <a:t>Phase 3 — name the prospect: "The first warm B2B prospect is in this room. One CIE license covers 30 founders at $3,000. Ten cohort deals is $30,000 to $50,000 in ARR."</a:t>
            </a:r>
          </a:p>
          <a:p>
            <a:endParaRPr lang="en-US" dirty="0"/>
          </a:p>
          <a:p>
            <a:r>
              <a:rPr lang="en-US" dirty="0"/>
              <a:t>IF ASKED 'Month 4 B2B is unrealistic' → "The base model breaks even at Month 6 on session revenue alone. The B2B deal accelerates the timeline — it doesn't create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BUSINESS MODEL  |  Target: ~0:30  |  Rubric: Clearly profitable · pricing understood · scalable</a:t>
            </a:r>
          </a:p>
          <a:p>
            <a:endParaRPr lang="en-US" dirty="0"/>
          </a:p>
          <a:p>
            <a:r>
              <a:rPr lang="en-US" dirty="0"/>
              <a:t>Name the three tiers fast: "$29 to $49 pay-per-session. $79 to $99 per month subscription. $2,000 to $5,000 per cohort institutional license."</a:t>
            </a:r>
          </a:p>
          <a:p>
            <a:endParaRPr lang="en-US" dirty="0"/>
          </a:p>
          <a:p>
            <a:r>
              <a:rPr lang="en-US" dirty="0"/>
              <a:t>Hit the unit economics: "API cost per session: five cents. Charge: $39. Gross margin: over 99%. CAC in month 1 is essentially zero — Gillespie competitors are already in this building."</a:t>
            </a:r>
          </a:p>
          <a:p>
            <a:endParaRPr lang="en-US" dirty="0"/>
          </a:p>
          <a:p>
            <a:r>
              <a:rPr lang="en-US" dirty="0"/>
              <a:t>Show the scalability arc: "Pay-per-session is the entry point. Subscription is the stickiness. B2B is the growth engine. One deal covers 30 students. Ten deals is $30,000 to $50,000 in ARR."</a:t>
            </a:r>
          </a:p>
          <a:p>
            <a:endParaRPr lang="en-US" dirty="0"/>
          </a:p>
          <a:p>
            <a:r>
              <a:rPr lang="en-US" dirty="0"/>
              <a:t>IF ASKED about LTV → "Pay-per-session: episodic but recurring. Subscription LTV: $300 to $500 over a 3 to 5 month fundraising cycle. B2B: recurring annual license, zero marginal cost per student."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COMPETITION  |  Target: ~0:30  |  Rubric: Competitive landscape understood · differentiation noted</a:t>
            </a:r>
          </a:p>
          <a:p>
            <a:endParaRPr lang="en-US" dirty="0"/>
          </a:p>
          <a:p>
            <a:r>
              <a:rPr lang="en-US" dirty="0"/>
              <a:t>Don't apologize: "We know exactly who exists — and here's why we're different."</a:t>
            </a:r>
          </a:p>
          <a:p>
            <a:endParaRPr lang="en-US" dirty="0"/>
          </a:p>
          <a:p>
            <a:r>
              <a:rPr lang="en-US" dirty="0"/>
              <a:t>Name each competitor in one sentence: "Yoodli coaches speech delivery — filler words and pacing, built for enterprise sales teams. PitchBob builds pitch decks with generic VC Q&amp;A prompts. ChatGPT asks hard questions but has no structure, no personas, and no scorecard."</a:t>
            </a:r>
          </a:p>
          <a:p>
            <a:endParaRPr lang="en-US" dirty="0"/>
          </a:p>
          <a:p>
            <a:r>
              <a:rPr lang="en-US" dirty="0"/>
              <a:t>Land the differentiator: "None of them stress-test a business model for a specific investor in a specific room. That's all we do."</a:t>
            </a:r>
          </a:p>
          <a:p>
            <a:endParaRPr lang="en-US" dirty="0"/>
          </a:p>
          <a:p>
            <a:r>
              <a:rPr lang="en-US" dirty="0"/>
              <a:t>Point to the green column: Six dimensions. All green. We're not claiming to be better at what they do — we do something they don't do at all.</a:t>
            </a:r>
          </a:p>
          <a:p>
            <a:endParaRPr lang="en-US" dirty="0"/>
          </a:p>
          <a:p>
            <a:r>
              <a:rPr lang="en-US" dirty="0"/>
              <a:t>IF ASKED 'What about asking a professor?' → "Professors give structural feedback. They can't give you adversarial pressure from a Southeast Angel at 11pm before your pitch. Our beta testers said the pressure was qualitatively different."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FINANCIAL HIGHLIGHTS  |  Target: ~0:45  |  Rubric: Reasonable projections · capital identified · viable plan</a:t>
            </a:r>
          </a:p>
          <a:p>
            <a:endParaRPr lang="en-US" dirty="0"/>
          </a:p>
          <a:p>
            <a:r>
              <a:rPr lang="en-US" dirty="0"/>
              <a:t>State the headline: "Capital-efficient, profitable within the year, and every assumption is stated on this slide."</a:t>
            </a:r>
          </a:p>
          <a:p>
            <a:endParaRPr lang="en-US" dirty="0"/>
          </a:p>
          <a:p>
            <a:r>
              <a:rPr lang="en-US" dirty="0"/>
              <a:t>Walk the four KPIs: "$20,000 starting runway. $800 per month fixed costs — no founder salary. Base break-even at Month 6: 22 sessions per month. With one B2B deal: Month 3."</a:t>
            </a:r>
          </a:p>
          <a:p>
            <a:endParaRPr lang="en-US" dirty="0"/>
          </a:p>
          <a:p>
            <a:r>
              <a:rPr lang="en-US" dirty="0"/>
              <a:t>State the key assumption proactively: "Month 1: 5 sessions — a 12% conversion rate from the 40 teams here today. Growth rate: 15% month-over-month — conservative compared to early-stage SaaS with embedded community distribution."</a:t>
            </a:r>
          </a:p>
          <a:p>
            <a:endParaRPr lang="en-US" dirty="0"/>
          </a:p>
          <a:p>
            <a:r>
              <a:rPr lang="en-US" dirty="0"/>
              <a:t>Address B2B risk yourself: "The base model reaches break-even at Month 6 on session revenue alone. The B2B deal accelerates that to Month 3 — but it is NOT required. This business is viable without it."</a:t>
            </a:r>
          </a:p>
          <a:p>
            <a:endParaRPr lang="en-US" dirty="0"/>
          </a:p>
          <a:p>
            <a:r>
              <a:rPr lang="en-US" dirty="0"/>
              <a:t>Point to the chart: "Spikes at month 4 and 8 are the B2B deals. The underlying bars show organic session growth compounding underneath."</a:t>
            </a:r>
          </a:p>
          <a:p>
            <a:endParaRPr lang="en-US" dirty="0"/>
          </a:p>
          <a:p>
            <a:r>
              <a:rPr lang="en-US" dirty="0"/>
              <a:t>IF ASKED '15% MoM — what's that based on?' → "Conservative vs. comparable SaaS with embedded community distribution. At 10% MoM the model still breaks even by Month 9. I'd rather defend conservative than aggressive."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TRACTION &amp; VALIDATION  |  Target: ~0:20</a:t>
            </a:r>
          </a:p>
          <a:p>
            <a:endParaRPr lang="en-US" dirty="0"/>
          </a:p>
          <a:p>
            <a:r>
              <a:rPr lang="en-US" dirty="0"/>
              <a:t>Let the numbers land: "Five founders. 100% said the tool exposed a gap they hadn't prepared for. Three named it their number one prep resource. One working demo, live today."</a:t>
            </a:r>
          </a:p>
          <a:p>
            <a:endParaRPr lang="en-US" dirty="0"/>
          </a:p>
          <a:p>
            <a:r>
              <a:rPr lang="en-US" dirty="0"/>
              <a:t>Read one quote: "I knew my TAM was weak. I didn't know I had no answer for it until The Conductor flagged it." — Ole Miss entrepreneur, pre-Gillespie 2026.</a:t>
            </a:r>
          </a:p>
          <a:p>
            <a:endParaRPr lang="en-US" dirty="0"/>
          </a:p>
          <a:p>
            <a:r>
              <a:rPr lang="en-US" dirty="0"/>
              <a:t>Brief. Move on. This slide proves the problem is real and the product works. Don't belabor it.</a:t>
            </a:r>
          </a:p>
          <a:p>
            <a:endParaRPr lang="en-US" dirty="0"/>
          </a:p>
          <a:p>
            <a:r>
              <a:rPr lang="en-US" dirty="0"/>
              <a:t>IF ASKED 'n=5 isn't enough' → "You're right — and the $20,000 funds the next 100 sessions. Today is directional proof of concept, not a peer-reviewed study. The signal is consistent and confirmed by people in this building."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USE OF PROCEEDS  |  Target: ~0:20</a:t>
            </a:r>
          </a:p>
          <a:p>
            <a:endParaRPr lang="en-US" dirty="0"/>
          </a:p>
          <a:p>
            <a:r>
              <a:rPr lang="en-US" dirty="0"/>
              <a:t>Keep it crisp: "$7,000 to build the full product — web app, AI engine, deck upload, results dashboard, and VC persona library. $5,000 for AI infrastructure — six months of API costs. $3,000 for go-to-market. $2,000 for legal and incorporation — required to receive this prize. $2,000 for hosting and tooling. $1,000 in reserve."</a:t>
            </a:r>
          </a:p>
          <a:p>
            <a:endParaRPr lang="en-US" dirty="0"/>
          </a:p>
          <a:p>
            <a:r>
              <a:rPr lang="en-US" dirty="0"/>
              <a:t>Name the legal line with confidence: "The LLC will be formed with this prize money. The CIE license conversation is my last act as a student and my first act as a founder."</a:t>
            </a:r>
          </a:p>
          <a:p>
            <a:endParaRPr lang="en-US" dirty="0"/>
          </a:p>
          <a:p>
            <a:r>
              <a:rPr lang="en-US" dirty="0"/>
              <a:t>IF ASKED 'Why does the MVP cost $7,000?' → "Four distinct technical components: web app, AI simulation engine, deck upload system, and results dashboard. Plus the proprietary VC persona library — the core differentiating asset. It's not a single website — it's the product."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CLOSING  |  Target: ~0:25</a:t>
            </a:r>
          </a:p>
          <a:p>
            <a:endParaRPr lang="en-US" dirty="0"/>
          </a:p>
          <a:p>
            <a:r>
              <a:rPr lang="en-US" dirty="0"/>
              <a:t>SLOW DOWN COMPLETELY. This is the most important 25 seconds of the pitch. Do not rush.</a:t>
            </a:r>
          </a:p>
          <a:p>
            <a:endParaRPr lang="en-US" dirty="0"/>
          </a:p>
          <a:p>
            <a:r>
              <a:rPr lang="en-US" dirty="0"/>
              <a:t>SAY: "Four years ago, a 19-year-old walked onto this campus with ambition and no roadmap. Today, I'm walking out — and leaving the roadmap behind."</a:t>
            </a:r>
          </a:p>
          <a:p>
            <a:endParaRPr lang="en-US" dirty="0"/>
          </a:p>
          <a:p>
            <a:r>
              <a:rPr lang="en-US" dirty="0"/>
              <a:t>READ THE QUOTE: "Every Marcus who stands in this room after me deserves to walk in prepared. This tool is my way of making sure they do."</a:t>
            </a:r>
          </a:p>
          <a:p>
            <a:endParaRPr lang="en-US" dirty="0"/>
          </a:p>
          <a:p>
            <a:r>
              <a:rPr lang="en-US" dirty="0"/>
              <a:t>MAKE THE ASK SIMPLY: "I'm asking for $20,000. Six months to full product launch. Month 3 break-even with the first B2B deal."</a:t>
            </a:r>
          </a:p>
          <a:p>
            <a:endParaRPr lang="en-US" dirty="0"/>
          </a:p>
          <a:p>
            <a:r>
              <a:rPr lang="en-US" dirty="0"/>
              <a:t>DEMO INVITE — say it directly: "If you want to see it work right now: open pitch-decimator.html in any browser, upload your deck, and your API key gets you in. I built it this week. It runs in 20 seconds. 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PITCH DECIMATOR AI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Resilience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2286000" cy="0"/>
          </a:xfrm>
          <a:prstGeom prst="line">
            <a:avLst/>
          </a:prstGeom>
          <a:noFill/>
          <a:ln w="254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0195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getting blindsided in that room </a:t>
            </a:r>
            <a:r>
              <a:rPr lang="en-US" sz="16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where deals go to die.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3291840" cy="475488"/>
          </a:xfrm>
          <a:prstGeom prst="rect">
            <a:avLst/>
          </a:prstGeom>
          <a:solidFill>
            <a:srgbClr val="2A1E08"/>
          </a:solidFill>
          <a:ln w="12700">
            <a:solidFill>
              <a:srgbClr val="7A50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E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GIFT TO OLE MISS ENTREPRENEURSHIP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2542032"/>
            <a:ext cx="2194560" cy="475488"/>
          </a:xfrm>
          <a:prstGeom prst="rect">
            <a:avLst/>
          </a:prstGeom>
          <a:solidFill>
            <a:srgbClr val="1A3A20"/>
          </a:solidFill>
          <a:ln w="12700">
            <a:solidFill>
              <a:srgbClr val="1665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0" y="25420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AVAILABLE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46227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Abhirup Chatterjee  |  Ole Miss Business '25  |  Double Major: Marketing + BAIS  |  Minor: Entrepreneurship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 didn't design this from theory. He designed it from scars.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21208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" cy="7315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Abhirup Chatterjee — Founder &amp; CEO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 Miss Business '25. Double major: Marketing + Business Analytics &amp; Information Systems. Minor: Entrepreneurship. Gillespie veteran with multiple competition appearances.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52120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54864" cy="731520"/>
          </a:xfrm>
          <a:prstGeom prst="rect">
            <a:avLst/>
          </a:prstGeom>
          <a:solidFill>
            <a:srgbClr val="CE8A2A"/>
          </a:solidFill>
          <a:ln w="12700">
            <a:solidFill>
              <a:srgbClr val="CE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Entrepreneur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ventures built, iterated, and pivoted. Understands the difference between a product idea and a business — and has done the work to make this one a business.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99816"/>
            <a:ext cx="521208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54864" cy="731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1729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 + Marketing = this product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4472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mind meets customer empathy. The degree combination is not incidental — it is the product's foundation. Every design decision reflects both disciplines.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41064"/>
            <a:ext cx="52120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941064"/>
            <a:ext cx="54864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1421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Marcus Moment — lived experience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2885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in this room. Got blindsided in Q&amp;A. Rebuilt. Won. This is not a market opportunity Abhirup found — it is a problem he solved for himself first.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1417320"/>
            <a:ext cx="2971800" cy="3364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89320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1938528"/>
            <a:ext cx="2377440" cy="0"/>
          </a:xfrm>
          <a:prstGeom prst="line">
            <a:avLst/>
          </a:prstGeom>
          <a:noFill/>
          <a:ln w="1905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89320" y="202996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with SaaS product experience contracted under a milestone-based structure: 30% upfront · 40% on working demo delivery · 30% on full product launch. Payment slips if delivery slips.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358665"/>
            <a:ext cx="2606040" cy="56692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303862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35070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Clay Dibrell — Co-Director, Ole Miss Center for Innovation &amp; Entrepreneurship. Endowed Chair in Entrepreneurship. US Fulbright Scholar. PhD Strategic Management. Former US Peace Corps Kenya. Published researcher in entrepreneurship and innovation.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9320" y="4107767"/>
            <a:ext cx="2606040" cy="56692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0760" y="415348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cohort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435465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Ole Miss founders beta-tested the product. 100% found gaps they hadn't prepared for.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question. One bad answer. Deal dead.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6692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" cy="56692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— 22, Ole Miss Business, stood in this room last year.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asked: "What happens when Amazon enters your space in 18 months?"  Silence. He placed nowhere.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4160520" cy="1207008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54864" cy="1207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adversarial preparation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59689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encourage. Professors give structural feedback. Nobody stress-tests assumptions the way an investor does. Founders arrive optimistic and leave blindsided.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212848"/>
            <a:ext cx="4160520" cy="1207008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2212848"/>
            <a:ext cx="54864" cy="1207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10912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costs $200–$500/hour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259689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pitch coaching is inaccessible to most first-time founders before their first raise. The people who need it most can least afford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4160520" cy="1207008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538728"/>
            <a:ext cx="54864" cy="1207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630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founders cite Q&amp;A as primary failure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92277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First Round Capital founder survey, 2022. The problem is documented, widespread, and unsolved at scale.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538728"/>
            <a:ext cx="4160520" cy="1207008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538728"/>
            <a:ext cx="54864" cy="1207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3630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has no structure or personas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10912" y="392277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asks hard questions but has no VC persona library, no regional calibration, no vulnerability scorecard. It produces noise, not preparation.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war room.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the real fight.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deck. The Conductor AI runs adversarial investor simulation — flagging every vulnerability before a real judge does.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871216"/>
            <a:ext cx="384048" cy="38404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8895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712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text deck into the web app.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392424"/>
            <a:ext cx="384048" cy="38404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410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activates a regional VC persona and stress-tests every claim.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913632"/>
            <a:ext cx="384048" cy="38404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913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105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4-dimension vulnerability scorecard generated in seconds.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384048" cy="38404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453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434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gap list + suggested responses before you face real investors.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292608"/>
            <a:ext cx="4754880" cy="4572000"/>
          </a:xfrm>
          <a:prstGeom prst="rect">
            <a:avLst/>
          </a:prstGeom>
          <a:solidFill>
            <a:srgbClr val="0A0E2A"/>
          </a:solidFill>
          <a:ln w="12700">
            <a:solidFill>
              <a:srgbClr val="2A3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0" y="292608"/>
            <a:ext cx="4754880" cy="457200"/>
          </a:xfrm>
          <a:prstGeom prst="rect">
            <a:avLst/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24528" y="3474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DECIMATOR AI  ·  The Conductor  ·  LIVE DEMO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79392" y="896112"/>
            <a:ext cx="2103120" cy="301752"/>
          </a:xfrm>
          <a:prstGeom prst="rect">
            <a:avLst/>
          </a:prstGeom>
          <a:solidFill>
            <a:srgbClr val="2A1A10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79392" y="89611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Competition Judge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79392" y="1316736"/>
            <a:ext cx="1042416" cy="71323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79392" y="1362456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279392" y="176479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13248" y="1316736"/>
            <a:ext cx="1042416" cy="71323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13248" y="1362456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13248" y="176479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47104" y="1316736"/>
            <a:ext cx="1042416" cy="71323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47104" y="1362456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47104" y="176479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80960" y="1316736"/>
            <a:ext cx="1042416" cy="71323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80960" y="1362456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680960" y="176479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279392" y="2157984"/>
            <a:ext cx="4389120" cy="365760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279392" y="2157984"/>
            <a:ext cx="45720" cy="36576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52544" y="21945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52544" y="23408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validated customer data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79392" y="2615184"/>
            <a:ext cx="4389120" cy="365760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279392" y="2615184"/>
            <a:ext cx="45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352544" y="2651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352544" y="27980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claim unsourced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79392" y="3072384"/>
            <a:ext cx="4389120" cy="365760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279392" y="3072384"/>
            <a:ext cx="45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52544" y="31089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352544" y="32552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— no technical partner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79392" y="3584448"/>
            <a:ext cx="4389120" cy="56692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352544" y="36301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36301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 paying customers. Why should I believe this works?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387705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Suggested response available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114800" y="4297680"/>
            <a:ext cx="4754880" cy="566928"/>
          </a:xfrm>
          <a:prstGeom prst="rect">
            <a:avLst/>
          </a:prstGeom>
          <a:solidFill>
            <a:srgbClr val="1A3A20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24528" y="4334256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working product. Open pitch-decimator.html in any browser to run a live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"By the time you walk in,
</a:t>
            </a: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you've already survived
</a:t>
            </a: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hardest version</a:t>
            </a:r>
            <a:endParaRPr lang="en-US" sz="3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the conversation."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4224528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43708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saved. Money saved. Confidence earned. We don't help you build prettier slides — we help you build a more defensible business.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&amp;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Concentrated, reachable, and growing fast.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114800" cy="3401568"/>
          </a:xfrm>
          <a:prstGeom prst="rect">
            <a:avLst/>
          </a:prstGeom>
          <a:solidFill>
            <a:srgbClr val="E8F0FE"/>
          </a:solidFill>
          <a:ln w="12700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14800" cy="5486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customer profile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19019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— The Comeback Founder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31136"/>
            <a:ext cx="3840480" cy="0"/>
          </a:xfrm>
          <a:prstGeom prst="line">
            <a:avLst/>
          </a:prstGeom>
          <a:noFill/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3042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2304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33472"/>
            <a:ext cx="3840480" cy="0"/>
          </a:xfrm>
          <a:prstGeom prst="line">
            <a:avLst/>
          </a:prstGeom>
          <a:noFill/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706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7066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preparing first pitch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35808"/>
            <a:ext cx="3840480" cy="0"/>
          </a:xfrm>
          <a:prstGeom prst="line">
            <a:avLst/>
          </a:prstGeom>
          <a:noFill/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108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3120" y="3108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competition participant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38144"/>
            <a:ext cx="3840480" cy="0"/>
          </a:xfrm>
          <a:prstGeom prst="line">
            <a:avLst/>
          </a:prstGeom>
          <a:noFill/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3511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03120" y="35112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Blindsided in Q&amp;A, no adversarial prep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3840480" cy="0"/>
          </a:xfrm>
          <a:prstGeom prst="line">
            <a:avLst/>
          </a:prstGeom>
          <a:noFill/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913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03120" y="3913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$39/session — confirmed by 5 beta testers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242816"/>
            <a:ext cx="3840480" cy="0"/>
          </a:xfrm>
          <a:prstGeom prst="line">
            <a:avLst/>
          </a:prstGeom>
          <a:noFill/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channel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03120" y="43159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circuit, founder Slack groups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389888"/>
            <a:ext cx="4114800" cy="777240"/>
          </a:xfrm>
          <a:prstGeom prst="rect">
            <a:avLst/>
          </a:prstGeom>
          <a:solidFill>
            <a:srgbClr val="E8F0FE"/>
          </a:solidFill>
          <a:ln w="12700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1444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300K+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4800600" y="1865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pre-seed &amp; seed raises/yr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03720" y="1444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 2023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240280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2951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$1.8B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4800600" y="2715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 size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03720" y="2295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300K × $6K avg prep spend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090672"/>
            <a:ext cx="4114800" cy="777240"/>
          </a:xfrm>
          <a:prstGeom prst="rect">
            <a:avLst/>
          </a:prstGeom>
          <a:solidFill>
            <a:srgbClr val="E8F0FE"/>
          </a:solidFill>
          <a:ln w="12700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31455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50K+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4800600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competition participants/yr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03720" y="31455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VentureWell 2024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941064"/>
            <a:ext cx="4114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39959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480060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— founder education tools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03720" y="3995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IBISWorld market report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Customers find us where they already live.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4008" cy="475488"/>
          </a:xfrm>
          <a:prstGeom prst="rect">
            <a:avLst/>
          </a:prstGeom>
          <a:solidFill>
            <a:srgbClr val="CE8A2A"/>
          </a:solidFill>
          <a:ln w="12700">
            <a:solidFill>
              <a:srgbClr val="CE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08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E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buy: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408176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pitchdecimator.com  →  upload deck  →  select persona  →  pay $39 via Stripe  →  receive full report in 20 seconds.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8229600" cy="877824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64008" cy="87782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066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0665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circuit — starting in this room today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32257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Gillespie, Landshark Tank, and Southeast university competitions. 40 teams competing here today. Converting 12% = 5 paying customers before the end of this month. Every participant is a Marcus. Every judge in this room has watched the problem happen in real time.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23760" y="2066544"/>
            <a:ext cx="1389888" cy="310896"/>
          </a:xfrm>
          <a:prstGeom prst="rect">
            <a:avLst/>
          </a:prstGeom>
          <a:solidFill>
            <a:srgbClr val="1E3320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42048" y="206654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— demo already in use at Gillespie 2026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8229600" cy="877824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64008" cy="8778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0723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072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communities — exact acquisition sequence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32841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founder at Landshark Tank sees a competitor mention Pitch Decimator. They Google it → land on pitchdecimator.com → watch a 30-second demo clip posted on X → upload their deck → pay $39 via Stripe → receive full report in 25 seconds. One demo post per week. Target: 3 organic signups per post.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3072384"/>
            <a:ext cx="1389888" cy="310896"/>
          </a:xfrm>
          <a:prstGeom prst="rect">
            <a:avLst/>
          </a:prstGeom>
          <a:solidFill>
            <a:srgbClr val="1E3320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42048" y="307238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— pitch failure content 94% higher engagement (Beehiiv data)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8229600" cy="877824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64008" cy="877824"/>
          </a:xfrm>
          <a:prstGeom prst="rect">
            <a:avLst/>
          </a:prstGeom>
          <a:solidFill>
            <a:srgbClr val="CE8A2A"/>
          </a:solidFill>
          <a:ln w="12700">
            <a:solidFill>
              <a:srgbClr val="CE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4297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40782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 Miss CIE — anchor B2B institutional client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433425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warm prospect is in this room. One CIE license = $3,000 and 30+ founders per cohort. Identical outreach to Techstars Demo Day networks, HBCU entrepreneurship centers, and SEC university innovation hubs. Institutional B2B is the growth engine — 10 cohort deals = $30,000–$50,000/year.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23760" y="4078224"/>
            <a:ext cx="1389888" cy="310896"/>
          </a:xfrm>
          <a:prstGeom prst="rect">
            <a:avLst/>
          </a:prstGeom>
          <a:solidFill>
            <a:srgbClr val="1E3320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42048" y="407822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— CIE conversation initiated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revenue streams. One customer journey. Clear path to profit.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743200" cy="3456432"/>
          </a:xfrm>
          <a:prstGeom prst="rect">
            <a:avLst/>
          </a:prstGeom>
          <a:solidFill>
            <a:srgbClr val="E8F0FE"/>
          </a:solidFill>
          <a:ln w="12700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43200" cy="64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Pay-Per-Session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$29–$49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2395728" cy="0"/>
          </a:xfrm>
          <a:prstGeom prst="line">
            <a:avLst/>
          </a:prstGeom>
          <a:noFill/>
          <a:ln w="9525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founders pre-pitch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 Event-driven purchase at moment of peak need. Low churn by design — customers buy before each high-stakes pitch.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749040"/>
            <a:ext cx="25603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005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~$0.05/session.  Margin: 99%+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389888"/>
            <a:ext cx="2743200" cy="34564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389888"/>
            <a:ext cx="2743200" cy="6400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5179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$79–$99/mo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383280" y="2450592"/>
            <a:ext cx="239572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25237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fundraisers — seed prep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283464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sessions + full VC persona library. For founders in active fundraising mode running 3–5 pitches per month.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749040"/>
            <a:ext cx="25603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4005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est. $300–$500 over 3–5 month raise cycle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1389888"/>
            <a:ext cx="2743200" cy="3456432"/>
          </a:xfrm>
          <a:prstGeom prst="rect">
            <a:avLst/>
          </a:prstGeom>
          <a:solidFill>
            <a:srgbClr val="E8F0FE"/>
          </a:solidFill>
          <a:ln w="12700">
            <a:solidFill>
              <a:srgbClr val="A8C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1389888"/>
            <a:ext cx="27432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15179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B2B License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9360" y="19019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$2K–$5K/cohort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309360" y="2450592"/>
            <a:ext cx="2395728" cy="0"/>
          </a:xfrm>
          <a:prstGeom prst="line">
            <a:avLst/>
          </a:prstGeom>
          <a:noFill/>
          <a:ln w="9525">
            <a:solidFill>
              <a:srgbClr val="A8C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25237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accelerators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283464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engine. One CIE deal covers 30+ students. Recurring annual license. Zero additional marginal cost per student.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3749040"/>
            <a:ext cx="25603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55080" y="4005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cohorts/yr = $30K–$50K ARR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919472"/>
            <a:ext cx="8503920" cy="256032"/>
          </a:xfrm>
          <a:prstGeom prst="rect">
            <a:avLst/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4919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in month 1 = ~$0 (Gillespie participants are the market). API cost per session = ~$0.05. Gross margin = 99%+.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know who exists. Here's exactly why we're different.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1417320" cy="420624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Yoodli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03320" y="1371600"/>
            <a:ext cx="1417320" cy="420624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03320" y="13716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PitchBob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20640" y="1371600"/>
            <a:ext cx="1691640" cy="420624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Generic AI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1371600"/>
            <a:ext cx="1828800" cy="42062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12280" y="1371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Decimator AI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196596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1920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1920240"/>
            <a:ext cx="141732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50008" y="192024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delivery &amp; filler words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1920240"/>
            <a:ext cx="141732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67328" y="192024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creation + VC Q&amp;A prompts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1920240"/>
            <a:ext cx="169164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84648" y="1920240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Q&amp;A, no structure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1920240"/>
            <a:ext cx="1828800" cy="438912"/>
          </a:xfrm>
          <a:prstGeom prst="rect">
            <a:avLst/>
          </a:prstGeom>
          <a:solidFill>
            <a:srgbClr val="E8F4ED"/>
          </a:solidFill>
          <a:ln w="12700">
            <a:solidFill>
              <a:srgbClr val="4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76288" y="192024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stress-test + adversarial Q&amp;A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414016"/>
            <a:ext cx="196596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4140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personas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0" y="2414016"/>
            <a:ext cx="1417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50008" y="2414016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types only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03320" y="2414016"/>
            <a:ext cx="1417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67328" y="2414016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2414016"/>
            <a:ext cx="16916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84648" y="2414016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prompts only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2414016"/>
            <a:ext cx="1828800" cy="438912"/>
          </a:xfrm>
          <a:prstGeom prst="rect">
            <a:avLst/>
          </a:prstGeom>
          <a:solidFill>
            <a:srgbClr val="E8F4ED"/>
          </a:solidFill>
          <a:ln w="12700">
            <a:solidFill>
              <a:srgbClr val="4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76288" y="24140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archetypes incl. SE regional angel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2907792"/>
            <a:ext cx="196596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29077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calibration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141732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350008" y="2907792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03320" y="2907792"/>
            <a:ext cx="141732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67328" y="2907792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0640" y="2907792"/>
            <a:ext cx="169164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84648" y="290779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12280" y="2907792"/>
            <a:ext cx="1828800" cy="438912"/>
          </a:xfrm>
          <a:prstGeom prst="rect">
            <a:avLst/>
          </a:prstGeom>
          <a:solidFill>
            <a:srgbClr val="E8F4ED"/>
          </a:solidFill>
          <a:ln w="12700">
            <a:solidFill>
              <a:srgbClr val="4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76288" y="290779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built for specific rooms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3401568"/>
            <a:ext cx="196596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" y="34015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scorecard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0" y="3401568"/>
            <a:ext cx="1417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350008" y="340156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03320" y="3401568"/>
            <a:ext cx="1417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67328" y="340156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20640" y="3401568"/>
            <a:ext cx="16916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84648" y="3401568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12280" y="3401568"/>
            <a:ext cx="1828800" cy="438912"/>
          </a:xfrm>
          <a:prstGeom prst="rect">
            <a:avLst/>
          </a:prstGeom>
          <a:solidFill>
            <a:srgbClr val="E8F4ED"/>
          </a:solidFill>
          <a:ln w="12700">
            <a:solidFill>
              <a:srgbClr val="4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76288" y="340156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4-dimension scored output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3895344"/>
            <a:ext cx="196596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1480" y="38953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286000" y="3895344"/>
            <a:ext cx="141732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350008" y="389534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teams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03320" y="3895344"/>
            <a:ext cx="141732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767328" y="389534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builders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20640" y="3895344"/>
            <a:ext cx="169164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184648" y="3895344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12280" y="3895344"/>
            <a:ext cx="1828800" cy="438912"/>
          </a:xfrm>
          <a:prstGeom prst="rect">
            <a:avLst/>
          </a:prstGeom>
          <a:solidFill>
            <a:srgbClr val="E8F4ED"/>
          </a:solidFill>
          <a:ln w="12700">
            <a:solidFill>
              <a:srgbClr val="4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876288" y="389534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founders pre-pitch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4389120"/>
            <a:ext cx="196596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11480" y="4389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286000" y="4389120"/>
            <a:ext cx="1417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350008" y="438912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$20/mo+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03320" y="4389120"/>
            <a:ext cx="1417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767328" y="438912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$29.90 one-time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120640" y="4389120"/>
            <a:ext cx="16916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184648" y="4389120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$20+/mo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812280" y="4389120"/>
            <a:ext cx="1828800" cy="438912"/>
          </a:xfrm>
          <a:prstGeom prst="rect">
            <a:avLst/>
          </a:prstGeom>
          <a:solidFill>
            <a:srgbClr val="E8F4ED"/>
          </a:solidFill>
          <a:ln w="12700">
            <a:solidFill>
              <a:srgbClr val="4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876288" y="438912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$39/session or $99/mo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0040" y="4919472"/>
            <a:ext cx="8503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20040" y="4919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Yoodli coaches delivery. PitchBob builds decks. ChatGPT has no structure. None stress-test a business model for a specific investor in a specific room.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highlights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Capital-efficient. Profitable within the year. Every assumption stated.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011680" cy="1207008"/>
          </a:xfrm>
          <a:prstGeom prst="rect">
            <a:avLst/>
          </a:prstGeom>
          <a:solidFill>
            <a:srgbClr val="E8F0FE"/>
          </a:solidFill>
          <a:ln w="12700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4996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9768" y="2011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runway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Gillespie 1st place prize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6312" y="1389888"/>
            <a:ext cx="201168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4996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$800/mo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2011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monthly costs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hosting, no salary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1389888"/>
            <a:ext cx="2011680" cy="1207008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82312" y="14996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82312" y="2011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break-even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2312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sessions/mo — no B2B required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48856" y="1389888"/>
            <a:ext cx="201168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58584" y="14996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58584" y="2011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break-even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58584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CIE cohort deal ($3K)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743200"/>
            <a:ext cx="3977640" cy="2148840"/>
          </a:xfrm>
          <a:prstGeom prst="rect">
            <a:avLst/>
          </a:prstGeom>
          <a:solidFill>
            <a:srgbClr val="E8F0FE"/>
          </a:solidFill>
          <a:ln w="12700">
            <a:solidFill>
              <a:srgbClr val="B8C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8163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(stated)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Month 1: 5 sessions (12% conversion of 40 Gillespie teams)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39242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Growth rate: 15% month-over-month — conservative vs. comparable SaaS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63016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Avg session price: $39 (midpoint of $29–$49 range)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86791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Variable cost: ~$0.05/session (AI API at Sonnet pricing)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1056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Fixed cost: $700/mo (hosting, tools, no founder salary)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3434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B2B deal at month 4: $3,000 — model reaches break-even at Month 6 without 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5811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Second B2B deal at month 8: $3,000 (second institutional client)</a:t>
            </a:r>
            <a:endParaRPr lang="en-US" sz="9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434840" y="2743200"/>
          <a:ext cx="43891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 28"/>
          <p:cNvSpPr/>
          <p:nvPr/>
        </p:nvSpPr>
        <p:spPr>
          <a:xfrm>
            <a:off x="4434840" y="2633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— B2B spikes at M4 and M8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didn't just build it. We ran people through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993392" cy="138988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tested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pre-Gillespie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481328"/>
            <a:ext cx="1993392" cy="138988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it exposed a gap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hadn't prepared for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1993392" cy="138988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92040" y="22860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it their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prep resource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1481328"/>
            <a:ext cx="1993392" cy="1389888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15727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E8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040880" y="22860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beta testers said: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4114800" cy="1417320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4114800" cy="5486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3566160"/>
            <a:ext cx="3767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knew my TAM was weak. I didn't know I had no answer for it until The Conductor flagged it."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" y="44348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Ole Miss student entrepreneur, pre-Gillespie 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3456432"/>
            <a:ext cx="4114800" cy="1417320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3456432"/>
            <a:ext cx="4114800" cy="5486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65192" y="3566160"/>
            <a:ext cx="3767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VC persona made it feel real — way more pressure than any professor feedback I've ever received."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65192" y="44348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Ole Miss MBA student, Southeast founder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dollar of the $20,000 has a job.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60520" cy="98755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64008" cy="9875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development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$7,000  ·  35%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AI simulation engine, deck upload, results dashboard + VC persona library build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481328"/>
            <a:ext cx="4160520" cy="98755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481328"/>
            <a:ext cx="64008" cy="9875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47488" y="15544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47488" y="1810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$5,000  ·  25%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47488" y="2103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costs, market data sourcing, VC persona library data — 6-month operating reserve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4160520" cy="98755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64008" cy="9875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6700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2926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$3,000  ·  15%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32186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circuit presence, CIE outreach, founder community seeding and content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596896"/>
            <a:ext cx="4160520" cy="98755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596896"/>
            <a:ext cx="64008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26700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incorporation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2926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$2,000  ·  10%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47488" y="32186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formation, Terms of Service, IP protection — required to receive Gillespie prize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60520" cy="98755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64008" cy="9875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tooling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$2,000  ·  10%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" y="43342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hosting, analytics platform, customer support tools — 12-month operating reserve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712464"/>
            <a:ext cx="4160520" cy="987552"/>
          </a:xfrm>
          <a:prstGeom prst="rect">
            <a:avLst/>
          </a:prstGeom>
          <a:solidFill>
            <a:srgbClr val="1A2455"/>
          </a:solidFill>
          <a:ln w="12700">
            <a:solidFill>
              <a:srgbClr val="2A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712464"/>
            <a:ext cx="64008" cy="987552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47488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reserve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47488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5A5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$1,000  ·  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47488" y="43342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buffer for unexpected costs and extended runway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his gift.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77724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years ago, a 19-year-old walked onto this campus
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ambition and no roadmap.
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Abhirup Chatterjee is walking out — and leaving the roadmap behind.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046720" cy="749808"/>
          </a:xfrm>
          <a:prstGeom prst="rect">
            <a:avLst/>
          </a:prstGeom>
          <a:solidFill>
            <a:srgbClr val="2A1E08"/>
          </a:solidFill>
          <a:ln w="12700">
            <a:solidFill>
              <a:srgbClr val="7A5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4008" cy="749808"/>
          </a:xfrm>
          <a:prstGeom prst="rect">
            <a:avLst/>
          </a:prstGeom>
          <a:solidFill>
            <a:srgbClr val="CE8A2A"/>
          </a:solidFill>
          <a:ln w="12700">
            <a:solidFill>
              <a:srgbClr val="CE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CE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Marcus who stands in this room after me deserves to walk in prepared.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CE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is my way of making sure they do."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8046720" cy="475488"/>
          </a:xfrm>
          <a:prstGeom prst="rect">
            <a:avLst/>
          </a:prstGeom>
          <a:solidFill>
            <a:srgbClr val="1A3A20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now — open pitch-decimator.html in any browser, upload your deck, your API key gets you 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05072"/>
            <a:ext cx="2651760" cy="384048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  —  Gillespie 1st Place Prize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4005072"/>
            <a:ext cx="2651760" cy="384048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 —  To full product launch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4005072"/>
            <a:ext cx="2651760" cy="384048"/>
          </a:xfrm>
          <a:prstGeom prst="rect">
            <a:avLst/>
          </a:prstGeom>
          <a:solidFill>
            <a:srgbClr val="243060"/>
          </a:solidFill>
          <a:ln w="12700">
            <a:solidFill>
              <a:srgbClr val="35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 —  Break-even with first B2B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079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Abhirup Chatterjee  |  Pitch Decimator AI  |  aachatte@go.olemiss.edu  |  Ole Miss Business '25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4349</Words>
  <Application>Microsoft Office PowerPoint</Application>
  <PresentationFormat>On-screen Show (16:9)</PresentationFormat>
  <Paragraphs>393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Decimator AI — Gillespie 2026 Final</dc:title>
  <dc:subject>PptxGenJS Presentation</dc:subject>
  <dc:creator>Abhirup Chatterjee</dc:creator>
  <cp:lastModifiedBy>Chi Chi Chatterjee</cp:lastModifiedBy>
  <cp:revision>2</cp:revision>
  <dcterms:created xsi:type="dcterms:W3CDTF">2026-03-31T22:32:00Z</dcterms:created>
  <dcterms:modified xsi:type="dcterms:W3CDTF">2026-04-01T15:15:01Z</dcterms:modified>
</cp:coreProperties>
</file>